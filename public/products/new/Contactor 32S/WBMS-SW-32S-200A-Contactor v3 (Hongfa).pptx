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577" r:id="rId5"/>
    <p:sldId id="566" r:id="rId6"/>
    <p:sldId id="581" r:id="rId7"/>
    <p:sldId id="578" r:id="rId8"/>
    <p:sldId id="572" r:id="rId9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9F4"/>
    <a:srgbClr val="AAD4F0"/>
    <a:srgbClr val="FFFFFF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F571D-5EC4-EAA8-8293-4EA67F7C15EF}" v="113" dt="2024-11-28T13:45:48.7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20"/>
        <p:guide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vari Kulkarni" userId="S::sharvari.kulkarni@webberec.com::5f0d8fd3-c69b-459f-ac2b-0e751844282f" providerId="AD" clId="Web-{61AF571D-5EC4-EAA8-8293-4EA67F7C15EF}"/>
    <pc:docChg chg="modSld">
      <pc:chgData name="Sharvari Kulkarni" userId="S::sharvari.kulkarni@webberec.com::5f0d8fd3-c69b-459f-ac2b-0e751844282f" providerId="AD" clId="Web-{61AF571D-5EC4-EAA8-8293-4EA67F7C15EF}" dt="2024-11-28T13:45:44.744" v="41"/>
      <pc:docMkLst>
        <pc:docMk/>
      </pc:docMkLst>
      <pc:sldChg chg="modSp">
        <pc:chgData name="Sharvari Kulkarni" userId="S::sharvari.kulkarni@webberec.com::5f0d8fd3-c69b-459f-ac2b-0e751844282f" providerId="AD" clId="Web-{61AF571D-5EC4-EAA8-8293-4EA67F7C15EF}" dt="2024-11-28T13:45:44.744" v="41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61AF571D-5EC4-EAA8-8293-4EA67F7C15EF}" dt="2024-11-28T13:45:44.744" v="41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11/28/2024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581216"/>
            <a:ext cx="59483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</a:t>
            </a:r>
            <a:r>
              <a:rPr lang="en-US" sz="4400" b="1">
                <a:solidFill>
                  <a:srgbClr val="073763"/>
                </a:solidFill>
                <a:latin typeface="Calibri" panose="020F0502020204030204" pitchFamily="34" charset="0"/>
              </a:rPr>
              <a:t>-32</a:t>
            </a:r>
            <a:r>
              <a:rPr lang="en-US" sz="44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 Contactor</a:t>
            </a:r>
            <a:endParaRPr lang="en-US" sz="440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340043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>
              <a:effectLst/>
            </a:endParaRPr>
          </a:p>
        </p:txBody>
      </p:sp>
      <p:pic>
        <p:nvPicPr>
          <p:cNvPr id="7" name="Picture 6" descr="A close-up of a machine&#10;&#10;Description automatically generated">
            <a:extLst>
              <a:ext uri="{FF2B5EF4-FFF2-40B4-BE49-F238E27FC236}">
                <a16:creationId xmlns:a16="http://schemas.microsoft.com/office/drawing/2014/main" id="{66CE0C12-A39B-C801-3D52-EC21DEB8E0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172110"/>
            <a:ext cx="5606795" cy="417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8183943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48" t="2837" r="-315" b="8818"/>
          <a:stretch/>
        </p:blipFill>
        <p:spPr bwMode="auto">
          <a:xfrm>
            <a:off x="1762247" y="8108048"/>
            <a:ext cx="1716983" cy="156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8140825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8219199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27CB06-4987-E246-4CBC-05844A24C4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4831" y="6417740"/>
            <a:ext cx="761563" cy="11228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E602B8-88DE-FEDF-DE88-5C2936DDC30F}"/>
              </a:ext>
            </a:extLst>
          </p:cNvPr>
          <p:cNvSpPr/>
          <p:nvPr/>
        </p:nvSpPr>
        <p:spPr>
          <a:xfrm>
            <a:off x="3924344" y="6165850"/>
            <a:ext cx="609556" cy="158750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ISO CAN2.0B</a:t>
            </a:r>
            <a:endParaRPr lang="en-IN" sz="700" b="1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AB8107-8F79-186F-240B-63EA06E72B49}"/>
              </a:ext>
            </a:extLst>
          </p:cNvPr>
          <p:cNvGrpSpPr/>
          <p:nvPr/>
        </p:nvGrpSpPr>
        <p:grpSpPr>
          <a:xfrm>
            <a:off x="145371" y="2199756"/>
            <a:ext cx="6743700" cy="6010275"/>
            <a:chOff x="145371" y="1728042"/>
            <a:chExt cx="6743700" cy="6010275"/>
          </a:xfrm>
        </p:grpSpPr>
        <p:pic>
          <p:nvPicPr>
            <p:cNvPr id="2" name="Picture 2" descr="A diagram of a battery system&#10;&#10;Description automatically generated">
              <a:extLst>
                <a:ext uri="{FF2B5EF4-FFF2-40B4-BE49-F238E27FC236}">
                  <a16:creationId xmlns:a16="http://schemas.microsoft.com/office/drawing/2014/main" id="{5FC9C4E3-5C87-39E1-47CD-BC342F63E9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71" y="1728042"/>
              <a:ext cx="6743700" cy="6010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79769AB-9A3A-7D98-3AE1-9C711D61446B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0800000" flipH="1" flipV="1">
              <a:off x="490264" y="5196271"/>
              <a:ext cx="174648" cy="44626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338303" y="794133"/>
            <a:ext cx="6303797" cy="891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32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75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-140V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b="1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or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Contactor Switching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Hardware and Software interlocks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for Charge and Discharge Paths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On board power supply and switching or predischarge control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. Does not need external 12V power supply and </a:t>
            </a:r>
            <a:r>
              <a:rPr lang="en-US" sz="1600" dirty="0" err="1">
                <a:solidFill>
                  <a:srgbClr val="222222"/>
                </a:solidFill>
                <a:latin typeface="Calibri" panose="020F0502020204030204" pitchFamily="34" charset="0"/>
              </a:rPr>
              <a:t>predisharge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 contactor  </a:t>
            </a:r>
            <a:endParaRPr lang="en-US" sz="1600" b="0" i="0" u="none" strike="noStrike" dirty="0">
              <a:solidFill>
                <a:srgbClr val="222222"/>
              </a:solidFill>
              <a:effectLst/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High 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380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1702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645084"/>
              </p:ext>
            </p:extLst>
          </p:nvPr>
        </p:nvGraphicFramePr>
        <p:xfrm>
          <a:off x="406866" y="234387"/>
          <a:ext cx="6131250" cy="9108744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Specifications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Remarks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Number of Cells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Min: 18  Max: 32</a:t>
                      </a:r>
                      <a:endParaRPr lang="en-IN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Cell Voltage Sensing Range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1.6 - 4.5V</a:t>
                      </a:r>
                      <a:endParaRPr lang="en-IN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Peak Battery Terminal Voltage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 V (32S)</a:t>
                      </a:r>
                      <a:endParaRPr lang="en-IN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Sensing Accuracy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Cell Voltage: ±5mV   Current: ±1% </a:t>
                      </a:r>
                      <a:endParaRPr lang="en-IN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Dimension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mm X 102 mm X 28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(L X B X H)</a:t>
                      </a:r>
                      <a:endParaRPr lang="pt-BR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Nominal Current Rating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Charging and Discharging Current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150A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9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Cell Balancing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Balancing Current per Cell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~400mA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Pre-discharge control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Nominal Capacitive load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3-16mF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in 0.5 seconds (Customisable)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BMS Self Current Consumption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Active Mode: ~165mA (Contactor On) 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     ~85mA (Contactor OFF) 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Shutdown Mode: ~1.3uA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2562308966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Temperature Sensing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External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Twelve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external channels for cell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Range and Accuracy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Range: -10℃ to 120℃    Accuracy ±1℃, 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uSD</a:t>
                      </a: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Card or 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uSD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Card: every 0.5 second, logged over last 60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Voltage Protection</a:t>
                      </a: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Contactor: </a:t>
                      </a: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OFF. 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Through Hysteresis, Automatic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Voltage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Hysteresis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 load removal required. Charging current is allowed.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discharge for up to 60 seconds  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Protection Level-2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discharge current in 6000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err="1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B5412-15E7-AC7F-9754-4BAD24CFFE02}"/>
              </a:ext>
            </a:extLst>
          </p:cNvPr>
          <p:cNvSpPr txBox="1"/>
          <p:nvPr/>
        </p:nvSpPr>
        <p:spPr>
          <a:xfrm>
            <a:off x="383384" y="9346889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>
                <a:effectLst/>
                <a:latin typeface="Calibri" panose="020F0502020204030204" pitchFamily="34" charset="0"/>
              </a:rPr>
              <a:t>Note: </a:t>
            </a:r>
            <a:r>
              <a:rPr lang="en-IN" sz="800" b="1">
                <a:latin typeface="Calibri" panose="020F0502020204030204" pitchFamily="34" charset="0"/>
              </a:rPr>
              <a:t>S</a:t>
            </a:r>
            <a:r>
              <a:rPr lang="en-IN" sz="800" b="1" i="0" u="none" strike="noStrike">
                <a:effectLst/>
                <a:latin typeface="Calibri" panose="020F0502020204030204" pitchFamily="34" charset="0"/>
              </a:rPr>
              <a:t>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597023"/>
              </p:ext>
            </p:extLst>
          </p:nvPr>
        </p:nvGraphicFramePr>
        <p:xfrm>
          <a:off x="372590" y="219771"/>
          <a:ext cx="6193378" cy="9516634"/>
        </p:xfrm>
        <a:graphic>
          <a:graphicData uri="http://schemas.openxmlformats.org/drawingml/2006/table">
            <a:tbl>
              <a:tblPr/>
              <a:tblGrid>
                <a:gridCol w="1278410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392185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60 seconds  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br>
                        <a:rPr lang="en-US" sz="500">
                          <a:effectLst/>
                        </a:rPr>
                      </a:br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Discharging is allowed if Charger is removed and Ignition is 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～20 </a:t>
                      </a:r>
                      <a:r>
                        <a:rPr lang="en-IN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microSec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8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8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Contactor Failure, Cell Open Wire, Short Circuit Latch, Over Current in Discharge Latch, Insulation Failure 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300324F4896B408E289EBB8E948AD0" ma:contentTypeVersion="10" ma:contentTypeDescription="Create a new document." ma:contentTypeScope="" ma:versionID="71df5ec8f158e5257a29e516781f30fc">
  <xsd:schema xmlns:xsd="http://www.w3.org/2001/XMLSchema" xmlns:xs="http://www.w3.org/2001/XMLSchema" xmlns:p="http://schemas.microsoft.com/office/2006/metadata/properties" xmlns:ns3="035d4297-5d0a-4043-8a0a-88221734da6a" targetNamespace="http://schemas.microsoft.com/office/2006/metadata/properties" ma:root="true" ma:fieldsID="deb5ff331d85ee84e6e267e21b87c55b" ns3:_="">
    <xsd:import namespace="035d4297-5d0a-4043-8a0a-88221734da6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5d4297-5d0a-4043-8a0a-88221734da6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5d4297-5d0a-4043-8a0a-88221734da6a" xsi:nil="true"/>
  </documentManagement>
</p:properties>
</file>

<file path=customXml/itemProps1.xml><?xml version="1.0" encoding="utf-8"?>
<ds:datastoreItem xmlns:ds="http://schemas.openxmlformats.org/officeDocument/2006/customXml" ds:itemID="{1878326F-9037-4EB1-84FD-B1CC25F807EC}">
  <ds:schemaRefs>
    <ds:schemaRef ds:uri="035d4297-5d0a-4043-8a0a-88221734da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93F8DC4-D5BF-4536-ACFD-2CE66F4F96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17B41F-2DA6-465C-9997-ECE48A3443C7}">
  <ds:schemaRefs>
    <ds:schemaRef ds:uri="035d4297-5d0a-4043-8a0a-88221734da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revision>28</cp:revision>
  <cp:lastPrinted>2023-11-21T08:53:41Z</cp:lastPrinted>
  <dcterms:created xsi:type="dcterms:W3CDTF">2018-05-28T01:20:05Z</dcterms:created>
  <dcterms:modified xsi:type="dcterms:W3CDTF">2024-11-28T13:45:55Z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0x010100A8300324F4896B408E289EBB8E948AD0</vt:lpwstr>
  </property>
</Properties>
</file>