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577" r:id="rId2"/>
    <p:sldId id="566" r:id="rId3"/>
    <p:sldId id="581" r:id="rId4"/>
    <p:sldId id="578" r:id="rId5"/>
    <p:sldId id="572" r:id="rId6"/>
  </p:sldIdLst>
  <p:sldSz cx="6858000" cy="9906000" type="A4"/>
  <p:notesSz cx="6858000" cy="9144000"/>
  <p:defaultTextStyle>
    <a:defPPr>
      <a:defRPr lang="en-US"/>
    </a:defPPr>
    <a:lvl1pPr marL="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42570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8513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327709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7027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21284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655418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309798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540557" algn="l" defTabSz="885139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540"/>
    <a:srgbClr val="AAD4F0"/>
    <a:srgbClr val="FFFFFF"/>
    <a:srgbClr val="FAF9F4"/>
    <a:srgbClr val="1B6CB3"/>
    <a:srgbClr val="00A44C"/>
    <a:srgbClr val="19974C"/>
    <a:srgbClr val="1EB45B"/>
    <a:srgbClr val="F5F3EB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18" autoAdjust="0"/>
    <p:restoredTop sz="94660"/>
  </p:normalViewPr>
  <p:slideViewPr>
    <p:cSldViewPr snapToGrid="0">
      <p:cViewPr>
        <p:scale>
          <a:sx n="100" d="100"/>
          <a:sy n="100" d="100"/>
        </p:scale>
        <p:origin x="1776" y="-3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nu Marwaha" userId="f39ffc35-35af-4f7b-b03f-a7583911184d" providerId="ADAL" clId="{C85730F4-129A-4DA1-B1E9-DD815637593E}"/>
    <pc:docChg chg="undo custSel modSld">
      <pc:chgData name="Bhanu Marwaha" userId="f39ffc35-35af-4f7b-b03f-a7583911184d" providerId="ADAL" clId="{C85730F4-129A-4DA1-B1E9-DD815637593E}" dt="2025-04-14T09:38:22.084" v="32" actId="20577"/>
      <pc:docMkLst>
        <pc:docMk/>
      </pc:docMkLst>
      <pc:sldChg chg="addSp delSp modSp mod">
        <pc:chgData name="Bhanu Marwaha" userId="f39ffc35-35af-4f7b-b03f-a7583911184d" providerId="ADAL" clId="{C85730F4-129A-4DA1-B1E9-DD815637593E}" dt="2025-04-14T09:38:22.084" v="32" actId="20577"/>
        <pc:sldMkLst>
          <pc:docMk/>
          <pc:sldMk cId="247023824" sldId="572"/>
        </pc:sldMkLst>
        <pc:graphicFrameChg chg="add del modGraphic">
          <ac:chgData name="Bhanu Marwaha" userId="f39ffc35-35af-4f7b-b03f-a7583911184d" providerId="ADAL" clId="{C85730F4-129A-4DA1-B1E9-DD815637593E}" dt="2025-04-14T09:38:22.084" v="32" actId="20577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Bhanu Marwaha" userId="f39ffc35-35af-4f7b-b03f-a7583911184d" providerId="ADAL" clId="{C85730F4-129A-4DA1-B1E9-DD815637593E}" dt="2025-04-14T09:36:12.648" v="3" actId="20577"/>
        <pc:sldMkLst>
          <pc:docMk/>
          <pc:sldMk cId="4028893296" sldId="577"/>
        </pc:sldMkLst>
        <pc:spChg chg="mod">
          <ac:chgData name="Bhanu Marwaha" userId="f39ffc35-35af-4f7b-b03f-a7583911184d" providerId="ADAL" clId="{C85730F4-129A-4DA1-B1E9-DD815637593E}" dt="2025-04-14T09:36:12.648" v="3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 mod">
        <pc:chgData name="Bhanu Marwaha" userId="f39ffc35-35af-4f7b-b03f-a7583911184d" providerId="ADAL" clId="{C85730F4-129A-4DA1-B1E9-DD815637593E}" dt="2025-04-14T09:37:31.437" v="20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C85730F4-129A-4DA1-B1E9-DD815637593E}" dt="2025-04-14T09:37:31.437" v="20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  <pc:docChgLst>
    <pc:chgData name="Bhanu Marwaha" userId="f39ffc35-35af-4f7b-b03f-a7583911184d" providerId="ADAL" clId="{36BEAB1C-6790-4254-AF2E-FEF95FFD9316}"/>
    <pc:docChg chg="modSld">
      <pc:chgData name="Bhanu Marwaha" userId="f39ffc35-35af-4f7b-b03f-a7583911184d" providerId="ADAL" clId="{36BEAB1C-6790-4254-AF2E-FEF95FFD9316}" dt="2025-04-25T09:27:10.122" v="20" actId="20577"/>
      <pc:docMkLst>
        <pc:docMk/>
      </pc:docMkLst>
      <pc:sldChg chg="modSp mod">
        <pc:chgData name="Bhanu Marwaha" userId="f39ffc35-35af-4f7b-b03f-a7583911184d" providerId="ADAL" clId="{36BEAB1C-6790-4254-AF2E-FEF95FFD9316}" dt="2025-04-16T08:55:07.636" v="10" actId="20577"/>
        <pc:sldMkLst>
          <pc:docMk/>
          <pc:sldMk cId="247023824" sldId="572"/>
        </pc:sldMkLst>
        <pc:graphicFrameChg chg="modGraphic">
          <ac:chgData name="Bhanu Marwaha" userId="f39ffc35-35af-4f7b-b03f-a7583911184d" providerId="ADAL" clId="{36BEAB1C-6790-4254-AF2E-FEF95FFD9316}" dt="2025-04-16T08:55:07.636" v="10" actId="20577"/>
          <ac:graphicFrameMkLst>
            <pc:docMk/>
            <pc:sldMk cId="247023824" sldId="572"/>
            <ac:graphicFrameMk id="2" creationId="{CC010099-24C3-67D9-1873-CB11E709EA15}"/>
          </ac:graphicFrameMkLst>
        </pc:graphicFrameChg>
      </pc:sldChg>
      <pc:sldChg chg="modSp mod">
        <pc:chgData name="Bhanu Marwaha" userId="f39ffc35-35af-4f7b-b03f-a7583911184d" providerId="ADAL" clId="{36BEAB1C-6790-4254-AF2E-FEF95FFD9316}" dt="2025-04-16T08:55:43.598" v="13" actId="20577"/>
        <pc:sldMkLst>
          <pc:docMk/>
          <pc:sldMk cId="4028893296" sldId="577"/>
        </pc:sldMkLst>
        <pc:spChg chg="mod">
          <ac:chgData name="Bhanu Marwaha" userId="f39ffc35-35af-4f7b-b03f-a7583911184d" providerId="ADAL" clId="{36BEAB1C-6790-4254-AF2E-FEF95FFD9316}" dt="2025-04-16T08:55:43.598" v="13" actId="20577"/>
          <ac:spMkLst>
            <pc:docMk/>
            <pc:sldMk cId="4028893296" sldId="577"/>
            <ac:spMk id="5" creationId="{24959149-75EC-9836-7E67-3B7777D97851}"/>
          </ac:spMkLst>
        </pc:spChg>
      </pc:sldChg>
      <pc:sldChg chg="modSp mod">
        <pc:chgData name="Bhanu Marwaha" userId="f39ffc35-35af-4f7b-b03f-a7583911184d" providerId="ADAL" clId="{36BEAB1C-6790-4254-AF2E-FEF95FFD9316}" dt="2025-04-25T09:27:10.122" v="20" actId="20577"/>
        <pc:sldMkLst>
          <pc:docMk/>
          <pc:sldMk cId="2743113738" sldId="578"/>
        </pc:sldMkLst>
        <pc:graphicFrameChg chg="modGraphic">
          <ac:chgData name="Bhanu Marwaha" userId="f39ffc35-35af-4f7b-b03f-a7583911184d" providerId="ADAL" clId="{36BEAB1C-6790-4254-AF2E-FEF95FFD9316}" dt="2025-04-25T09:27:10.122" v="20" actId="20577"/>
          <ac:graphicFrameMkLst>
            <pc:docMk/>
            <pc:sldMk cId="2743113738" sldId="578"/>
            <ac:graphicFrameMk id="2" creationId="{6E79A8D3-628D-7E3E-8F3C-441BDEA0E306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E1EB4-28E7-47FE-B3B7-30AD8347381D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AD4B6D-C77D-46CB-B9BC-B12A284B0032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D86927-F3CA-44F2-AB7E-BBC9746059E2}" type="datetimeFigureOut">
              <a:rPr lang="en-IN" smtClean="0"/>
              <a:t>25-04-2025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1143000"/>
            <a:ext cx="2133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25ED01-58E1-46B4-9B9B-8F04EAD1F5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52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25ED01-58E1-46B4-9B9B-8F04EAD1F5BA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68700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932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07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18096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362200" y="1143000"/>
            <a:ext cx="21336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885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25ED01-58E1-46B4-9B9B-8F04EAD1F5BA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88513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5986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077290"/>
            <a:ext cx="5829300" cy="2123370"/>
          </a:xfrm>
        </p:spPr>
        <p:txBody>
          <a:bodyPr>
            <a:normAutofit/>
          </a:bodyPr>
          <a:lstStyle>
            <a:lvl1pPr>
              <a:defRPr sz="128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4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7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3543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531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708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885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062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240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4172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6666683" y="2"/>
            <a:ext cx="191318" cy="9906000"/>
          </a:xfrm>
          <a:prstGeom prst="rect">
            <a:avLst/>
          </a:prstGeom>
          <a:solidFill>
            <a:srgbClr val="F68222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681"/>
          </a:p>
        </p:txBody>
      </p:sp>
      <p:pic>
        <p:nvPicPr>
          <p:cNvPr id="10" name="Google Shape;56;p13"/>
          <p:cNvPicPr preferRelativeResize="0"/>
          <p:nvPr userDrawn="1"/>
        </p:nvPicPr>
        <p:blipFill rotWithShape="1">
          <a:blip r:embed="rId2" cstate="print">
            <a:alphaModFix/>
          </a:blip>
          <a:srcRect l="13989" t="43039" r="72022" b="42972"/>
          <a:stretch/>
        </p:blipFill>
        <p:spPr>
          <a:xfrm>
            <a:off x="3" y="-12212"/>
            <a:ext cx="281537" cy="83388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9"/>
            <a:ext cx="5829300" cy="1967442"/>
          </a:xfrm>
        </p:spPr>
        <p:txBody>
          <a:bodyPr anchor="t"/>
          <a:lstStyle>
            <a:lvl1pPr algn="l">
              <a:defRPr sz="1561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8"/>
          </a:xfrm>
        </p:spPr>
        <p:txBody>
          <a:bodyPr anchor="b"/>
          <a:lstStyle>
            <a:lvl1pPr marL="0" indent="0">
              <a:buNone/>
              <a:defRPr sz="761">
                <a:solidFill>
                  <a:schemeClr val="tx1">
                    <a:tint val="75000"/>
                  </a:schemeClr>
                </a:solidFill>
              </a:defRPr>
            </a:lvl1pPr>
            <a:lvl2pPr marL="17715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2pPr>
            <a:lvl3pPr marL="354308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53146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4pPr>
            <a:lvl5pPr marL="708616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5pPr>
            <a:lvl6pPr marL="885770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6pPr>
            <a:lvl7pPr marL="1062924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7pPr>
            <a:lvl8pPr marL="1240077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8pPr>
            <a:lvl9pPr marL="1417232" indent="0">
              <a:buNone/>
              <a:defRPr sz="56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4814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07657" y="2063752"/>
            <a:ext cx="3588544" cy="5835827"/>
          </a:xfrm>
        </p:spPr>
        <p:txBody>
          <a:bodyPr/>
          <a:lstStyle>
            <a:lvl1pPr>
              <a:defRPr sz="1081"/>
            </a:lvl1pPr>
            <a:lvl2pPr>
              <a:defRPr sz="921"/>
            </a:lvl2pPr>
            <a:lvl3pPr>
              <a:defRPr sz="761"/>
            </a:lvl3pPr>
            <a:lvl4pPr>
              <a:defRPr sz="681"/>
            </a:lvl4pPr>
            <a:lvl5pPr>
              <a:defRPr sz="681"/>
            </a:lvl5pPr>
            <a:lvl6pPr>
              <a:defRPr sz="681"/>
            </a:lvl6pPr>
            <a:lvl7pPr>
              <a:defRPr sz="681"/>
            </a:lvl7pPr>
            <a:lvl8pPr>
              <a:defRPr sz="681"/>
            </a:lvl8pPr>
            <a:lvl9pPr>
              <a:defRPr sz="6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2" y="396701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1" y="2217386"/>
            <a:ext cx="3030142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1" y="3141486"/>
            <a:ext cx="3030142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1" y="2217386"/>
            <a:ext cx="3031331" cy="924101"/>
          </a:xfrm>
        </p:spPr>
        <p:txBody>
          <a:bodyPr anchor="b"/>
          <a:lstStyle>
            <a:lvl1pPr marL="0" indent="0">
              <a:buNone/>
              <a:defRPr sz="921" b="1"/>
            </a:lvl1pPr>
            <a:lvl2pPr marL="177154" indent="0">
              <a:buNone/>
              <a:defRPr sz="761" b="1"/>
            </a:lvl2pPr>
            <a:lvl3pPr marL="354308" indent="0">
              <a:buNone/>
              <a:defRPr sz="681" b="1"/>
            </a:lvl3pPr>
            <a:lvl4pPr marL="531462" indent="0">
              <a:buNone/>
              <a:defRPr sz="600" b="1"/>
            </a:lvl4pPr>
            <a:lvl5pPr marL="708616" indent="0">
              <a:buNone/>
              <a:defRPr sz="600" b="1"/>
            </a:lvl5pPr>
            <a:lvl6pPr marL="885770" indent="0">
              <a:buNone/>
              <a:defRPr sz="600" b="1"/>
            </a:lvl6pPr>
            <a:lvl7pPr marL="1062924" indent="0">
              <a:buNone/>
              <a:defRPr sz="600" b="1"/>
            </a:lvl7pPr>
            <a:lvl8pPr marL="1240077" indent="0">
              <a:buNone/>
              <a:defRPr sz="600" b="1"/>
            </a:lvl8pPr>
            <a:lvl9pPr marL="1417232" indent="0">
              <a:buNone/>
              <a:defRPr sz="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1" y="3141486"/>
            <a:ext cx="3031331" cy="5707416"/>
          </a:xfrm>
        </p:spPr>
        <p:txBody>
          <a:bodyPr/>
          <a:lstStyle>
            <a:lvl1pPr>
              <a:defRPr sz="921"/>
            </a:lvl1pPr>
            <a:lvl2pPr>
              <a:defRPr sz="761"/>
            </a:lvl2pPr>
            <a:lvl3pPr>
              <a:defRPr sz="681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4" y="394407"/>
            <a:ext cx="2256235" cy="1678517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91" y="394411"/>
            <a:ext cx="3833813" cy="8454496"/>
          </a:xfrm>
        </p:spPr>
        <p:txBody>
          <a:bodyPr/>
          <a:lstStyle>
            <a:lvl1pPr>
              <a:defRPr sz="1241"/>
            </a:lvl1pPr>
            <a:lvl2pPr>
              <a:defRPr sz="1081"/>
            </a:lvl2pPr>
            <a:lvl3pPr>
              <a:defRPr sz="921"/>
            </a:lvl3pPr>
            <a:lvl4pPr>
              <a:defRPr sz="761"/>
            </a:lvl4pPr>
            <a:lvl5pPr>
              <a:defRPr sz="761"/>
            </a:lvl5pPr>
            <a:lvl6pPr>
              <a:defRPr sz="761"/>
            </a:lvl6pPr>
            <a:lvl7pPr>
              <a:defRPr sz="761"/>
            </a:lvl7pPr>
            <a:lvl8pPr>
              <a:defRPr sz="761"/>
            </a:lvl8pPr>
            <a:lvl9pPr>
              <a:defRPr sz="76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4" y="2072926"/>
            <a:ext cx="2256235" cy="67759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8" y="6934208"/>
            <a:ext cx="4114800" cy="818620"/>
          </a:xfrm>
        </p:spPr>
        <p:txBody>
          <a:bodyPr anchor="b"/>
          <a:lstStyle>
            <a:lvl1pPr algn="l">
              <a:defRPr sz="761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8" y="885124"/>
            <a:ext cx="4114800" cy="5943600"/>
          </a:xfrm>
        </p:spPr>
        <p:txBody>
          <a:bodyPr/>
          <a:lstStyle>
            <a:lvl1pPr marL="0" indent="0">
              <a:buNone/>
              <a:defRPr sz="1241"/>
            </a:lvl1pPr>
            <a:lvl2pPr marL="177154" indent="0">
              <a:buNone/>
              <a:defRPr sz="1081"/>
            </a:lvl2pPr>
            <a:lvl3pPr marL="354308" indent="0">
              <a:buNone/>
              <a:defRPr sz="921"/>
            </a:lvl3pPr>
            <a:lvl4pPr marL="531462" indent="0">
              <a:buNone/>
              <a:defRPr sz="761"/>
            </a:lvl4pPr>
            <a:lvl5pPr marL="708616" indent="0">
              <a:buNone/>
              <a:defRPr sz="761"/>
            </a:lvl5pPr>
            <a:lvl6pPr marL="885770" indent="0">
              <a:buNone/>
              <a:defRPr sz="761"/>
            </a:lvl6pPr>
            <a:lvl7pPr marL="1062924" indent="0">
              <a:buNone/>
              <a:defRPr sz="761"/>
            </a:lvl7pPr>
            <a:lvl8pPr marL="1240077" indent="0">
              <a:buNone/>
              <a:defRPr sz="761"/>
            </a:lvl8pPr>
            <a:lvl9pPr marL="1417232" indent="0">
              <a:buNone/>
              <a:defRPr sz="761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8" y="7752830"/>
            <a:ext cx="4114800" cy="1162580"/>
          </a:xfrm>
        </p:spPr>
        <p:txBody>
          <a:bodyPr/>
          <a:lstStyle>
            <a:lvl1pPr marL="0" indent="0">
              <a:buNone/>
              <a:defRPr sz="561"/>
            </a:lvl1pPr>
            <a:lvl2pPr marL="177154" indent="0">
              <a:buNone/>
              <a:defRPr sz="480"/>
            </a:lvl2pPr>
            <a:lvl3pPr marL="354308" indent="0">
              <a:buNone/>
              <a:defRPr sz="401"/>
            </a:lvl3pPr>
            <a:lvl4pPr marL="531462" indent="0">
              <a:buNone/>
              <a:defRPr sz="360"/>
            </a:lvl4pPr>
            <a:lvl5pPr marL="708616" indent="0">
              <a:buNone/>
              <a:defRPr sz="360"/>
            </a:lvl5pPr>
            <a:lvl6pPr marL="885770" indent="0">
              <a:buNone/>
              <a:defRPr sz="360"/>
            </a:lvl6pPr>
            <a:lvl7pPr marL="1062924" indent="0">
              <a:buNone/>
              <a:defRPr sz="360"/>
            </a:lvl7pPr>
            <a:lvl8pPr marL="1240077" indent="0">
              <a:buNone/>
              <a:defRPr sz="360"/>
            </a:lvl8pPr>
            <a:lvl9pPr marL="1417232" indent="0">
              <a:buNone/>
              <a:defRPr sz="36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873356" y="353140"/>
            <a:ext cx="1822847" cy="754644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4814" y="353140"/>
            <a:ext cx="5354240" cy="754644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42901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4E64A99C-CFB3-43B7-95D7-91135B9AEA97}" type="datetimeFigureOut">
              <a:rPr lang="en-US" smtClean="0"/>
              <a:pPr/>
              <a:t>4/25/2025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43152" y="9181403"/>
            <a:ext cx="2171700" cy="527403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14902" y="9181403"/>
            <a:ext cx="1600200" cy="527403"/>
          </a:xfrm>
          <a:prstGeom prst="rect">
            <a:avLst/>
          </a:prstGeom>
        </p:spPr>
        <p:txBody>
          <a:bodyPr/>
          <a:lstStyle/>
          <a:p>
            <a:fld id="{9669405C-8D0D-43F6-B508-A8DA04B59F8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-26130"/>
            <a:ext cx="6858000" cy="953015"/>
          </a:xfrm>
          <a:prstGeom prst="rect">
            <a:avLst/>
          </a:prstGeom>
          <a:noFill/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none"/>
        </p:style>
        <p:txBody>
          <a:bodyPr vert="horz" lIns="88514" tIns="44257" rIns="88514" bIns="44257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8242" y="1260064"/>
            <a:ext cx="6381519" cy="8100634"/>
          </a:xfrm>
          <a:prstGeom prst="rect">
            <a:avLst/>
          </a:prstGeom>
        </p:spPr>
        <p:txBody>
          <a:bodyPr vert="horz" lIns="88514" tIns="44257" rIns="88514" bIns="44257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54308" rtl="0" eaLnBrk="1" latinLnBrk="0" hangingPunct="1">
        <a:spcBef>
          <a:spcPct val="0"/>
        </a:spcBef>
        <a:buNone/>
        <a:defRPr sz="112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2866" indent="-132866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1pPr>
      <a:lvl2pPr marL="287875" indent="-110721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2pPr>
      <a:lvl3pPr marL="442885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640" kern="1200">
          <a:solidFill>
            <a:schemeClr val="tx1"/>
          </a:solidFill>
          <a:latin typeface="+mn-lt"/>
          <a:ea typeface="+mn-ea"/>
          <a:cs typeface="+mn-cs"/>
        </a:defRPr>
      </a:lvl3pPr>
      <a:lvl4pPr marL="620039" indent="-88577" algn="l" defTabSz="354308" rtl="0" eaLnBrk="1" latinLnBrk="0" hangingPunct="1">
        <a:spcBef>
          <a:spcPct val="20000"/>
        </a:spcBef>
        <a:buFont typeface="Arial" pitchFamily="34" charset="0"/>
        <a:buChar char="–"/>
        <a:defRPr sz="640" kern="1200">
          <a:solidFill>
            <a:schemeClr val="tx1"/>
          </a:solidFill>
          <a:latin typeface="+mn-lt"/>
          <a:ea typeface="+mn-ea"/>
          <a:cs typeface="+mn-cs"/>
        </a:defRPr>
      </a:lvl4pPr>
      <a:lvl5pPr marL="797193" indent="-88577" algn="l" defTabSz="354308" rtl="0" eaLnBrk="1" latinLnBrk="0" hangingPunct="1">
        <a:spcBef>
          <a:spcPct val="20000"/>
        </a:spcBef>
        <a:buFont typeface="Arial" pitchFamily="34" charset="0"/>
        <a:buChar char="»"/>
        <a:defRPr sz="640" kern="1200">
          <a:solidFill>
            <a:schemeClr val="tx1"/>
          </a:solidFill>
          <a:latin typeface="+mn-lt"/>
          <a:ea typeface="+mn-ea"/>
          <a:cs typeface="+mn-cs"/>
        </a:defRPr>
      </a:lvl5pPr>
      <a:lvl6pPr marL="974347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6pPr>
      <a:lvl7pPr marL="1151501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7pPr>
      <a:lvl8pPr marL="1328654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8pPr>
      <a:lvl9pPr marL="1505810" indent="-88577" algn="l" defTabSz="354308" rtl="0" eaLnBrk="1" latinLnBrk="0" hangingPunct="1">
        <a:spcBef>
          <a:spcPct val="20000"/>
        </a:spcBef>
        <a:buFont typeface="Arial" pitchFamily="34" charset="0"/>
        <a:buChar char="•"/>
        <a:defRPr sz="7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1pPr>
      <a:lvl2pPr marL="17715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2pPr>
      <a:lvl3pPr marL="354308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3pPr>
      <a:lvl4pPr marL="53146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4pPr>
      <a:lvl5pPr marL="708616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5pPr>
      <a:lvl6pPr marL="885770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6pPr>
      <a:lvl7pPr marL="1062924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7pPr>
      <a:lvl8pPr marL="1240077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8pPr>
      <a:lvl9pPr marL="1417232" algn="l" defTabSz="354308" rtl="0" eaLnBrk="1" latinLnBrk="0" hangingPunct="1">
        <a:defRPr sz="6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E67FDB5-15C4-D0BE-9554-0196C71826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45838"/>
          <a:stretch/>
        </p:blipFill>
        <p:spPr bwMode="auto">
          <a:xfrm>
            <a:off x="1" y="-21849"/>
            <a:ext cx="6858000" cy="1113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959149-75EC-9836-7E67-3B7777D97851}"/>
              </a:ext>
            </a:extLst>
          </p:cNvPr>
          <p:cNvSpPr txBox="1"/>
          <p:nvPr/>
        </p:nvSpPr>
        <p:spPr>
          <a:xfrm>
            <a:off x="454819" y="1816166"/>
            <a:ext cx="5948362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WBMS-SWLT </a:t>
            </a:r>
            <a:r>
              <a:rPr lang="en-US" sz="4400" b="1" i="0" u="none" strike="noStrike" dirty="0">
                <a:solidFill>
                  <a:srgbClr val="073763"/>
                </a:solidFill>
                <a:effectLst/>
                <a:latin typeface="Calibri"/>
                <a:ea typeface="Calibri"/>
                <a:cs typeface="Calibri"/>
              </a:rPr>
              <a:t>16S 100</a:t>
            </a:r>
            <a:r>
              <a:rPr lang="en-US" sz="4400" b="1" dirty="0">
                <a:solidFill>
                  <a:srgbClr val="073763"/>
                </a:solidFill>
                <a:latin typeface="Calibri"/>
                <a:ea typeface="Calibri"/>
                <a:cs typeface="Calibri"/>
              </a:rPr>
              <a:t>A</a:t>
            </a:r>
            <a:endParaRPr lang="en-US" sz="4400" dirty="0">
              <a:effectLst/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7A3816-1FF5-42A6-6AE5-3741FDD1CBA9}"/>
              </a:ext>
            </a:extLst>
          </p:cNvPr>
          <p:cNvSpPr txBox="1"/>
          <p:nvPr/>
        </p:nvSpPr>
        <p:spPr>
          <a:xfrm>
            <a:off x="547478" y="2988950"/>
            <a:ext cx="594836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Smart BMS Manages Lithium Ion Batteries </a:t>
            </a:r>
          </a:p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US" sz="2000" b="1" i="0" u="none" strike="noStrike" dirty="0">
                <a:solidFill>
                  <a:srgbClr val="0B5394"/>
                </a:solidFill>
                <a:effectLst/>
                <a:latin typeface="Calibri" panose="020F0502020204030204" pitchFamily="34" charset="0"/>
              </a:rPr>
              <a:t>with Precision and Speed</a:t>
            </a:r>
            <a:endParaRPr lang="en-US" sz="400" dirty="0">
              <a:effectLst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4D091D-50A9-520B-1F2C-76DA6EC04245}"/>
              </a:ext>
            </a:extLst>
          </p:cNvPr>
          <p:cNvSpPr txBox="1"/>
          <p:nvPr/>
        </p:nvSpPr>
        <p:spPr>
          <a:xfrm>
            <a:off x="574087" y="4028981"/>
            <a:ext cx="5948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 fontAlgn="t">
              <a:spcBef>
                <a:spcPts val="0"/>
              </a:spcBef>
              <a:spcAft>
                <a:spcPts val="0"/>
              </a:spcAft>
            </a:pPr>
            <a:r>
              <a:rPr lang="en-IN" sz="20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Specification Sheet v3.0</a:t>
            </a:r>
            <a:endParaRPr lang="en-IN" sz="50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C92CF8-F1AB-4010-8497-55712DD333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56" r="7456"/>
          <a:stretch/>
        </p:blipFill>
        <p:spPr>
          <a:xfrm>
            <a:off x="850900" y="4761236"/>
            <a:ext cx="5410200" cy="442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93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2ABC34-2FA5-3876-F9DE-97FD6F113290}"/>
              </a:ext>
            </a:extLst>
          </p:cNvPr>
          <p:cNvSpPr txBox="1"/>
          <p:nvPr/>
        </p:nvSpPr>
        <p:spPr>
          <a:xfrm>
            <a:off x="1450361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55F6C0F-5914-8C76-8F10-1C1DDB57C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14" y="7960499"/>
            <a:ext cx="1495425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30BE1287-A6A0-7722-ACDE-A3FE74A8C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6860" y="7836674"/>
            <a:ext cx="1609725" cy="177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9951C053-7EEF-CA28-F5E3-6A9A8F2F0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5800" y="7892554"/>
            <a:ext cx="1524000" cy="1504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7F229806-6913-5887-1EB5-B506AAC3CA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651" y="7946101"/>
            <a:ext cx="1495425" cy="1495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1C75520D-2FF0-B3BE-C7B1-CAAB1961D9AD}"/>
              </a:ext>
            </a:extLst>
          </p:cNvPr>
          <p:cNvGrpSpPr/>
          <p:nvPr/>
        </p:nvGrpSpPr>
        <p:grpSpPr>
          <a:xfrm>
            <a:off x="260394" y="1661288"/>
            <a:ext cx="6354924" cy="5879202"/>
            <a:chOff x="260394" y="1661288"/>
            <a:chExt cx="6354924" cy="5879202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B8417B4-1D44-7394-E4E4-DEC9157F6A3F}"/>
                </a:ext>
              </a:extLst>
            </p:cNvPr>
            <p:cNvGrpSpPr/>
            <p:nvPr/>
          </p:nvGrpSpPr>
          <p:grpSpPr>
            <a:xfrm>
              <a:off x="260394" y="1661288"/>
              <a:ext cx="6354924" cy="5879202"/>
              <a:chOff x="260394" y="1661288"/>
              <a:chExt cx="6354924" cy="5879202"/>
            </a:xfrm>
          </p:grpSpPr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5D4C9DF9-38A3-9109-BE35-9A6118D1B7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0394" y="1661288"/>
                <a:ext cx="6354924" cy="58792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9565F4D1-DBDB-9A18-5610-68DBE96AFD6C}"/>
                  </a:ext>
                </a:extLst>
              </p:cNvPr>
              <p:cNvSpPr/>
              <p:nvPr/>
            </p:nvSpPr>
            <p:spPr>
              <a:xfrm>
                <a:off x="3618173" y="5975350"/>
                <a:ext cx="1079669" cy="219663"/>
              </a:xfrm>
              <a:prstGeom prst="rect">
                <a:avLst/>
              </a:prstGeom>
              <a:solidFill>
                <a:srgbClr val="AAD4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pPr algn="ctr"/>
                <a:r>
                  <a:rPr lang="en-US" sz="1100" b="1" dirty="0">
                    <a:solidFill>
                      <a:schemeClr val="accent6">
                        <a:lumMod val="50000"/>
                      </a:schemeClr>
                    </a:solidFill>
                  </a:rPr>
                  <a:t>NISO CAN2.0B</a:t>
                </a:r>
                <a:endParaRPr lang="en-IN" sz="1100" b="1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A02428-7D43-BDEB-0B90-0550ADCFA9AE}"/>
                </a:ext>
              </a:extLst>
            </p:cNvPr>
            <p:cNvGrpSpPr/>
            <p:nvPr/>
          </p:nvGrpSpPr>
          <p:grpSpPr>
            <a:xfrm>
              <a:off x="2247729" y="6289153"/>
              <a:ext cx="1365294" cy="1179967"/>
              <a:chOff x="2247729" y="6289153"/>
              <a:chExt cx="1365294" cy="1179967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08093C8-29C5-01A2-2462-AC0AFA1AD336}"/>
                  </a:ext>
                </a:extLst>
              </p:cNvPr>
              <p:cNvSpPr/>
              <p:nvPr/>
            </p:nvSpPr>
            <p:spPr>
              <a:xfrm>
                <a:off x="2247729" y="6289153"/>
                <a:ext cx="1365294" cy="117996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E5D9017-C92A-47F7-1885-2AF864FC96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49594" y="6289153"/>
                <a:ext cx="761563" cy="1122818"/>
              </a:xfrm>
              <a:prstGeom prst="rect">
                <a:avLst/>
              </a:prstGeom>
            </p:spPr>
          </p:pic>
        </p:grp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DF0FDBC-F081-6D7C-39E9-8B25E25E2F17}"/>
              </a:ext>
            </a:extLst>
          </p:cNvPr>
          <p:cNvSpPr txBox="1"/>
          <p:nvPr/>
        </p:nvSpPr>
        <p:spPr>
          <a:xfrm>
            <a:off x="1437109" y="630343"/>
            <a:ext cx="42373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i="0" u="none" strike="noStrike" dirty="0">
                <a:solidFill>
                  <a:srgbClr val="073763"/>
                </a:solidFill>
                <a:effectLst/>
                <a:latin typeface="Calibri" panose="020F0502020204030204" pitchFamily="34" charset="0"/>
              </a:rPr>
              <a:t>Application Diagram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650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7776AC-6D13-6EF2-4DAE-6DC747EE478E}"/>
              </a:ext>
            </a:extLst>
          </p:cNvPr>
          <p:cNvSpPr txBox="1"/>
          <p:nvPr/>
        </p:nvSpPr>
        <p:spPr>
          <a:xfrm>
            <a:off x="522454" y="1251333"/>
            <a:ext cx="6010868" cy="817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Scalable up to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16 cells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&amp;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48-60V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battery packs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AIS-156 PH-II Compliant</a:t>
            </a:r>
            <a:endParaRPr lang="en-US" sz="160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Buzzer output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LED Indication 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for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Thermal Runaway, Open Wire Fault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MOSFET Failure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Multiple communication options: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CAN2.0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 BLE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Onboard: 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EEPROM</a:t>
            </a:r>
            <a:endParaRPr lang="en-US" sz="1600" dirty="0">
              <a:solidFill>
                <a:srgbClr val="222222"/>
              </a:solidFill>
              <a:latin typeface="Calibri" panose="020F0502020204030204" pitchFamily="34" charset="0"/>
            </a:endParaRP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High side N-MOSFET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provides safe and uninterrupted ground connection to external subsystems.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Predischarge control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for preventing inrush currents to capacitive loads. Prevents MOSFET failures and increases cell life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Short Circuit and Overcurrent in discharge latches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ensure automatic locking of discharge path after repeated short circuit and overcurrent faults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</a:t>
            </a: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ell balancing current up to 120mA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minimizes cell to cell voltage and SOC variations and optimal charging of battery pack 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Individual Cell over and under voltage and temperature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Pack level over current and short circuit protection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600" b="1" i="0" u="none" strike="noStrike" dirty="0">
                <a:solidFill>
                  <a:srgbClr val="38761D"/>
                </a:solidFill>
                <a:effectLst/>
                <a:latin typeface="Calibri" panose="020F0502020204030204" pitchFamily="34" charset="0"/>
              </a:rPr>
              <a:t>Deep Discharge Prevention (Auto BMS Shutdown)</a:t>
            </a:r>
            <a:r>
              <a:rPr lang="en-US" sz="1600" b="0" i="0" u="none" strike="noStrike" dirty="0">
                <a:solidFill>
                  <a:srgbClr val="222222"/>
                </a:solidFill>
                <a:effectLst/>
                <a:latin typeface="Calibri" panose="020F0502020204030204" pitchFamily="34" charset="0"/>
              </a:rPr>
              <a:t> when cell </a:t>
            </a:r>
            <a:r>
              <a:rPr lang="en-US" sz="1600" dirty="0">
                <a:solidFill>
                  <a:srgbClr val="222222"/>
                </a:solidFill>
                <a:latin typeface="Calibri" panose="020F0502020204030204" pitchFamily="34" charset="0"/>
              </a:rPr>
              <a:t>voltage is critically low</a:t>
            </a:r>
          </a:p>
          <a:p>
            <a:pPr marL="285750" indent="-285750" fontAlgn="base">
              <a:lnSpc>
                <a:spcPct val="150000"/>
              </a:lnSpc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Proprietary 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CAN based field servicing tools 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for 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data monitoring, logging </a:t>
            </a:r>
            <a:r>
              <a:rPr lang="en-IN" sz="1600" dirty="0">
                <a:solidFill>
                  <a:srgbClr val="222222"/>
                </a:solidFill>
                <a:latin typeface="Calibri" panose="020F0502020204030204" pitchFamily="34" charset="0"/>
              </a:rPr>
              <a:t>and</a:t>
            </a:r>
            <a:r>
              <a:rPr lang="en-IN" sz="1600" b="1" dirty="0">
                <a:solidFill>
                  <a:srgbClr val="38761D"/>
                </a:solidFill>
                <a:latin typeface="Calibri" panose="020F0502020204030204" pitchFamily="34" charset="0"/>
              </a:rPr>
              <a:t> firmware update</a:t>
            </a:r>
          </a:p>
          <a:p>
            <a:pPr marL="285750" indent="-285750" rtl="0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95000"/>
                  <a:lumOff val="5000"/>
                </a:schemeClr>
              </a:buClr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2DC885-ACAD-D435-AD3E-F56D0C423F1F}"/>
              </a:ext>
            </a:extLst>
          </p:cNvPr>
          <p:cNvSpPr txBox="1"/>
          <p:nvPr/>
        </p:nvSpPr>
        <p:spPr>
          <a:xfrm>
            <a:off x="1712844" y="563945"/>
            <a:ext cx="3432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3200" b="1" i="0" u="none" strike="noStrike">
                <a:solidFill>
                  <a:srgbClr val="073763"/>
                </a:solidFill>
                <a:effectLst/>
                <a:latin typeface="Calibri" panose="020F0502020204030204" pitchFamily="34" charset="0"/>
              </a:defRPr>
            </a:lvl1pPr>
          </a:lstStyle>
          <a:p>
            <a:r>
              <a:rPr lang="en-IN" dirty="0"/>
              <a:t>Salient Features</a:t>
            </a:r>
          </a:p>
        </p:txBody>
      </p:sp>
    </p:spTree>
    <p:extLst>
      <p:ext uri="{BB962C8B-B14F-4D97-AF65-F5344CB8AC3E}">
        <p14:creationId xmlns:p14="http://schemas.microsoft.com/office/powerpoint/2010/main" val="1054229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E79A8D3-628D-7E3E-8F3C-441BDEA0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158224"/>
              </p:ext>
            </p:extLst>
          </p:nvPr>
        </p:nvGraphicFramePr>
        <p:xfrm>
          <a:off x="435894" y="250483"/>
          <a:ext cx="6131250" cy="9066102"/>
        </p:xfrm>
        <a:graphic>
          <a:graphicData uri="http://schemas.openxmlformats.org/drawingml/2006/table">
            <a:tbl>
              <a:tblPr/>
              <a:tblGrid>
                <a:gridCol w="1082520">
                  <a:extLst>
                    <a:ext uri="{9D8B030D-6E8A-4147-A177-3AD203B41FA5}">
                      <a16:colId xmlns:a16="http://schemas.microsoft.com/office/drawing/2014/main" val="2801197913"/>
                    </a:ext>
                  </a:extLst>
                </a:gridCol>
                <a:gridCol w="2066762">
                  <a:extLst>
                    <a:ext uri="{9D8B030D-6E8A-4147-A177-3AD203B41FA5}">
                      <a16:colId xmlns:a16="http://schemas.microsoft.com/office/drawing/2014/main" val="2027509784"/>
                    </a:ext>
                  </a:extLst>
                </a:gridCol>
                <a:gridCol w="1189896">
                  <a:extLst>
                    <a:ext uri="{9D8B030D-6E8A-4147-A177-3AD203B41FA5}">
                      <a16:colId xmlns:a16="http://schemas.microsoft.com/office/drawing/2014/main" val="254840671"/>
                    </a:ext>
                  </a:extLst>
                </a:gridCol>
                <a:gridCol w="1792072">
                  <a:extLst>
                    <a:ext uri="{9D8B030D-6E8A-4147-A177-3AD203B41FA5}">
                      <a16:colId xmlns:a16="http://schemas.microsoft.com/office/drawing/2014/main" val="2053155507"/>
                    </a:ext>
                  </a:extLst>
                </a:gridCol>
              </a:tblGrid>
              <a:tr h="29188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19175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Number of Cells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Min: 3  Max: 16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2079049"/>
                  </a:ext>
                </a:extLst>
              </a:tr>
              <a:tr h="269932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Voltage Sensing Range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1.6 - 4.5V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59985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Peak Battery Terminal Voltage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 V (16S)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870743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Sensing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Cell Voltage: ±3mV   Current: ±1% </a:t>
                      </a:r>
                      <a:endParaRPr lang="en-IN" sz="11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669318"/>
                  </a:ext>
                </a:extLst>
              </a:tr>
              <a:tr h="305045">
                <a:tc gridSpan="2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 </a:t>
                      </a:r>
                      <a:r>
                        <a:rPr lang="pt-B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mm X 72 mm X 21 mm </a:t>
                      </a:r>
                      <a:r>
                        <a:rPr lang="pt-B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(L X B X H)</a:t>
                      </a:r>
                      <a:endParaRPr lang="pt-BR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9487532"/>
                  </a:ext>
                </a:extLst>
              </a:tr>
              <a:tr h="42023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Rated Nominal Continuous Current Rating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Charging and Discharging Current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Up to 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100A.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Needs thermal connection to metal battery pack casing for PDU heat dissipation to maintain continuous current rating. Continuous current rating to be derated to ~65% of the rated value if no thermal connection is present.</a:t>
                      </a:r>
                      <a:endParaRPr lang="en-US" sz="1000" b="1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5076851"/>
                  </a:ext>
                </a:extLst>
              </a:tr>
              <a:tr h="44081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2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Cell Balancing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Balancing Current per Cell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WBMS-SW-Mini-LB: 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50~60 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WBMS-SW-Mini-HB</a:t>
                      </a: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: 100~120 mA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8818540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Pre-discharge control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Nominal Capacitive load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3-6mF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in 0.5 seconds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203264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BMS Self Current Consumption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54308" rtl="0" eaLnBrk="1" fontAlgn="t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Active Mode, Shutdown Mode 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Active Mode: ~13mA</a:t>
                      </a:r>
                    </a:p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Shutdown Mode: ~0.15mA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/>
                </a:tc>
                <a:extLst>
                  <a:ext uri="{0D108BD9-81ED-4DB2-BD59-A6C34878D82A}">
                    <a16:rowId xmlns:a16="http://schemas.microsoft.com/office/drawing/2014/main" val="1969345497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Temperature Sensing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Onboard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One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channel for onboard MOSFET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127640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External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Four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external channels for cell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899110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 and Accuracy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Range: -10℃ to 120℃    Accuracy ±1℃, 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3157289"/>
                  </a:ext>
                </a:extLst>
              </a:tr>
              <a:tr h="269932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Onboard Data Storage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</a:t>
                      </a:r>
                      <a:endParaRPr lang="en-IN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EEPROM: every 90 seconds, logged over last 30 days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56221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Voltage Protection</a:t>
                      </a: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318742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355976"/>
                  </a:ext>
                </a:extLst>
              </a:tr>
              <a:tr h="297748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Through Hysteresis, Automatic 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6204148"/>
                  </a:ext>
                </a:extLst>
              </a:tr>
              <a:tr h="26993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Voltage Protection</a:t>
                      </a: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Configurable</a:t>
                      </a: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Configurable, based on target fully charged voltage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6985585"/>
                  </a:ext>
                </a:extLst>
              </a:tr>
              <a:tr h="269932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81484"/>
                  </a:ext>
                </a:extLst>
              </a:tr>
              <a:tr h="42023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Hysteresis</a:t>
                      </a:r>
                      <a:endParaRPr lang="en-IN" sz="700" dirty="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 load removal required. Charging current is allowed.</a:t>
                      </a:r>
                      <a:endParaRPr lang="en-US" sz="700">
                        <a:effectLst/>
                      </a:endParaRPr>
                    </a:p>
                  </a:txBody>
                  <a:tcPr marL="60645" marR="60645" marT="60645" marB="6064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248760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>
                          <a:effectLst/>
                        </a:rPr>
                      </a:br>
                      <a:br>
                        <a:rPr lang="en-US" sz="700">
                          <a:effectLst/>
                        </a:rPr>
                      </a:b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Level-1</a:t>
                      </a:r>
                      <a:endParaRPr lang="en-US" sz="700">
                        <a:effectLst/>
                      </a:endParaRPr>
                    </a:p>
                    <a:p>
                      <a:pPr fontAlgn="t"/>
                      <a:br>
                        <a:rPr lang="en-US" sz="700">
                          <a:effectLst/>
                        </a:rPr>
                      </a:b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744089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942932"/>
                  </a:ext>
                </a:extLst>
              </a:tr>
              <a:tr h="30002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812"/>
                  </a:ext>
                </a:extLst>
              </a:tr>
              <a:tr h="421452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Over Current in Discharge Protection Level-2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discharge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168907"/>
                  </a:ext>
                </a:extLst>
              </a:tr>
              <a:tr h="27114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8355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Release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discharge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614286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0EC871F-F600-DB79-D206-8A475D1BD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538" y="11541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DE6727-9C6D-2728-16FD-D8E62BB03691}"/>
              </a:ext>
            </a:extLst>
          </p:cNvPr>
          <p:cNvSpPr txBox="1"/>
          <p:nvPr/>
        </p:nvSpPr>
        <p:spPr>
          <a:xfrm>
            <a:off x="407988" y="9341490"/>
            <a:ext cx="6535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t">
              <a:spcBef>
                <a:spcPts val="0"/>
              </a:spcBef>
              <a:spcAft>
                <a:spcPts val="0"/>
              </a:spcAft>
            </a:pPr>
            <a:r>
              <a:rPr lang="en-IN" sz="800" b="1" i="0" u="none" strike="noStrike" dirty="0">
                <a:effectLst/>
                <a:latin typeface="Calibri" panose="020F0502020204030204" pitchFamily="34" charset="0"/>
              </a:rPr>
              <a:t>Note: Specifications are indicative only. Final specifications and behaviour including continuous discharge/charge current, balancing current, protection thresholds, etc. may vary depending upon BMS version, BMS mounting scheme, PDU heat dissipation, programmed parameters and application logic.   </a:t>
            </a:r>
            <a:endParaRPr lang="en-IN" sz="1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43113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C010099-24C3-67D9-1873-CB11E709EA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038538"/>
              </p:ext>
            </p:extLst>
          </p:nvPr>
        </p:nvGraphicFramePr>
        <p:xfrm>
          <a:off x="372590" y="355841"/>
          <a:ext cx="6193378" cy="9022828"/>
        </p:xfrm>
        <a:graphic>
          <a:graphicData uri="http://schemas.openxmlformats.org/drawingml/2006/table">
            <a:tbl>
              <a:tblPr/>
              <a:tblGrid>
                <a:gridCol w="1497805">
                  <a:extLst>
                    <a:ext uri="{9D8B030D-6E8A-4147-A177-3AD203B41FA5}">
                      <a16:colId xmlns:a16="http://schemas.microsoft.com/office/drawing/2014/main" val="2652335837"/>
                    </a:ext>
                  </a:extLst>
                </a:gridCol>
                <a:gridCol w="2038996">
                  <a:extLst>
                    <a:ext uri="{9D8B030D-6E8A-4147-A177-3AD203B41FA5}">
                      <a16:colId xmlns:a16="http://schemas.microsoft.com/office/drawing/2014/main" val="3812545294"/>
                    </a:ext>
                  </a:extLst>
                </a:gridCol>
                <a:gridCol w="1140394">
                  <a:extLst>
                    <a:ext uri="{9D8B030D-6E8A-4147-A177-3AD203B41FA5}">
                      <a16:colId xmlns:a16="http://schemas.microsoft.com/office/drawing/2014/main" val="2924204521"/>
                    </a:ext>
                  </a:extLst>
                </a:gridCol>
                <a:gridCol w="1516183">
                  <a:extLst>
                    <a:ext uri="{9D8B030D-6E8A-4147-A177-3AD203B41FA5}">
                      <a16:colId xmlns:a16="http://schemas.microsoft.com/office/drawing/2014/main" val="494862359"/>
                    </a:ext>
                  </a:extLst>
                </a:gridCol>
              </a:tblGrid>
              <a:tr h="284246">
                <a:tc grid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Specifications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Remarks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076408"/>
                  </a:ext>
                </a:extLst>
              </a:tr>
              <a:tr h="1676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consecutive over discharge current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9196761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56177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r>
                        <a:rPr lang="en-US" sz="7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 Auto release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97598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Current in Charge Protection Level-1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Configurable to allow up to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charge current for up to 60 seconds  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1501753"/>
                  </a:ext>
                </a:extLst>
              </a:tr>
              <a:tr h="2719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ON,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533923"/>
                  </a:ext>
                </a:extLst>
              </a:tr>
              <a:tr h="23326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6579595"/>
                  </a:ext>
                </a:extLst>
              </a:tr>
              <a:tr h="416567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br>
                        <a:rPr lang="en-US" sz="500" dirty="0">
                          <a:effectLst/>
                        </a:rPr>
                      </a:br>
                      <a:r>
                        <a:rPr lang="en-US" sz="1000" b="1" i="0" u="none" strike="noStrike" kern="12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Over Current in Charge Protection Level-2</a:t>
                      </a:r>
                    </a:p>
                    <a:p>
                      <a:pPr fontAlgn="t"/>
                      <a:endParaRPr lang="en-US" sz="1000" b="1" i="0" u="none" strike="noStrike" kern="1200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Threshold, 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 to instantaneously cut off at </a:t>
                      </a: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140A</a:t>
                      </a: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charge current in 100 mSec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077668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Fault Response 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741373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no charge current for 90 secs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687820"/>
                  </a:ext>
                </a:extLst>
              </a:tr>
              <a:tr h="27658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Protection Trigger Delay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～30 uSec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fontAlgn="t"/>
                      <a:br>
                        <a:rPr lang="en-IN" sz="700">
                          <a:effectLst/>
                        </a:rPr>
                      </a:br>
                      <a:endParaRPr lang="en-IN" sz="70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933796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6466735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after 5 seconds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219597"/>
                  </a:ext>
                </a:extLst>
              </a:tr>
              <a:tr h="269544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Short Circuit in Discharge Latch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Threshold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consecutive short circuit faults</a:t>
                      </a:r>
                      <a:endParaRPr lang="en-US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654822"/>
                  </a:ext>
                </a:extLst>
              </a:tr>
              <a:tr h="269544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OFF</a:t>
                      </a:r>
                      <a:endParaRPr lang="en-US" sz="700" b="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15895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Load Removal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43635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IN" sz="700" dirty="0">
                          <a:effectLst/>
                        </a:rPr>
                      </a:br>
                      <a:br>
                        <a:rPr lang="en-IN" sz="700" dirty="0">
                          <a:effectLst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Discharge Protection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35638942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403565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732382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700">
                        <a:effectLst/>
                      </a:endParaRPr>
                    </a:p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Under Temperature in Discharge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6640665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Discharge MOSFET: OFF, 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24989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above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09938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Over Temperature in Charge Protection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2221740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10565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 recovery below configurable temperature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023627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br>
                        <a:rPr lang="en-US" sz="700" dirty="0">
                          <a:effectLst/>
                        </a:rPr>
                      </a:b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Under Temperature in Charge Protection</a:t>
                      </a:r>
                      <a:endParaRPr lang="en-US" sz="700" dirty="0">
                        <a:effectLst/>
                      </a:endParaRPr>
                    </a:p>
                    <a:p>
                      <a:pPr fontAlgn="t"/>
                      <a:br>
                        <a:rPr lang="en-US" sz="700" dirty="0">
                          <a:effectLst/>
                        </a:rPr>
                      </a:b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54308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+mn-ea"/>
                          <a:cs typeface="+mn-cs"/>
                        </a:rPr>
                        <a:t>Threshold, Protection Trigger Delay</a:t>
                      </a:r>
                    </a:p>
                  </a:txBody>
                  <a:tcPr marL="61260" marR="61260" marT="61260" marB="6126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 dirty="0">
                        <a:effectLst/>
                      </a:endParaRPr>
                    </a:p>
                  </a:txBody>
                  <a:tcPr marL="61260" marR="61260" marT="61260" marB="6126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Configurable</a:t>
                      </a:r>
                      <a:endParaRPr lang="en-IN" sz="700">
                        <a:effectLst/>
                      </a:endParaRPr>
                    </a:p>
                  </a:txBody>
                  <a:tcPr marL="61260" marR="61260" marT="61260" marB="61260"/>
                </a:tc>
                <a:extLst>
                  <a:ext uri="{0D108BD9-81ED-4DB2-BD59-A6C34878D82A}">
                    <a16:rowId xmlns:a16="http://schemas.microsoft.com/office/drawing/2014/main" val="139650672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Response 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Charge MOSFET: OFF, Discharge MOSFET: ON</a:t>
                      </a:r>
                      <a:endParaRPr lang="en-US" sz="700" b="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0179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Fault Release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Auto recovery above configurable temperature</a:t>
                      </a:r>
                      <a:endParaRPr lang="en-US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063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Buzzer Output</a:t>
                      </a:r>
                      <a:endParaRPr lang="en-IN" sz="700" dirty="0">
                        <a:effectLst/>
                        <a:latin typeface="Calibri"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39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Alert on Permanent Failure</a:t>
                      </a:r>
                      <a:endParaRPr lang="en-IN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 gridSpan="2"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Thermal Runaway, MOSFET Failure, Cell Open Wire, Short Circuit Latch, Over Current in Discharge Latch, Insulation Failure </a:t>
                      </a:r>
                      <a:endParaRPr lang="en-US" sz="700" dirty="0">
                        <a:effectLst/>
                      </a:endParaRPr>
                    </a:p>
                  </a:txBody>
                  <a:tcPr marL="63123" marR="63123" marT="63123" marB="63123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894519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496BCF32-4A66-8EC5-3ABB-89A2DCFFA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788" y="1166813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2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1762</TotalTime>
  <Words>931</Words>
  <Application>Microsoft Office PowerPoint</Application>
  <PresentationFormat>A4 Paper (210x297 mm)</PresentationFormat>
  <Paragraphs>174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</dc:creator>
  <cp:lastModifiedBy>Bhanu Marwaha</cp:lastModifiedBy>
  <cp:revision>8</cp:revision>
  <cp:lastPrinted>2023-11-21T08:53:41Z</cp:lastPrinted>
  <dcterms:created xsi:type="dcterms:W3CDTF">2018-05-28T01:20:05Z</dcterms:created>
  <dcterms:modified xsi:type="dcterms:W3CDTF">2025-04-25T09:27:14Z</dcterms:modified>
</cp:coreProperties>
</file>