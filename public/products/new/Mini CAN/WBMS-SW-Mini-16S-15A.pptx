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577" r:id="rId2"/>
    <p:sldId id="566" r:id="rId3"/>
    <p:sldId id="581" r:id="rId4"/>
    <p:sldId id="578" r:id="rId5"/>
    <p:sldId id="572" r:id="rId6"/>
    <p:sldId id="585" r:id="rId7"/>
    <p:sldId id="583" r:id="rId8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540"/>
    <a:srgbClr val="AAD4F0"/>
    <a:srgbClr val="FFFFFF"/>
    <a:srgbClr val="FAF9F4"/>
    <a:srgbClr val="1B6CB3"/>
    <a:srgbClr val="00A44C"/>
    <a:srgbClr val="19974C"/>
    <a:srgbClr val="1EB45B"/>
    <a:srgbClr val="F5F3EB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3557F9-CDAF-4216-90B0-C334C95536F2}" v="1" dt="2025-03-11T10:49:02.157"/>
    <p1510:client id="{B92D78A3-28D0-4146-9716-96460CC605E2}" v="1" dt="2024-01-31T10:06:21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>
        <p:scale>
          <a:sx n="125" d="100"/>
          <a:sy n="125" d="100"/>
        </p:scale>
        <p:origin x="2232" y="-262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48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961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816166"/>
            <a:ext cx="59483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WBMS-SW</a:t>
            </a:r>
            <a:r>
              <a:rPr lang="en-US" sz="4400" b="1" dirty="0">
                <a:solidFill>
                  <a:srgbClr val="073763"/>
                </a:solidFill>
                <a:latin typeface="Calibri" panose="020F0502020204030204" pitchFamily="34" charset="0"/>
              </a:rPr>
              <a:t>-Mini </a:t>
            </a: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16S 45A</a:t>
            </a:r>
            <a:endParaRPr lang="en-US" sz="4400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Specification Sheet v3.0</a:t>
            </a:r>
            <a:endParaRPr lang="en-IN" sz="500" dirty="0">
              <a:effectLst/>
            </a:endParaRPr>
          </a:p>
        </p:txBody>
      </p:sp>
      <p:pic>
        <p:nvPicPr>
          <p:cNvPr id="3" name="Picture 2" descr="A close-up of a circuit board&#10;&#10;Description automatically generated">
            <a:extLst>
              <a:ext uri="{FF2B5EF4-FFF2-40B4-BE49-F238E27FC236}">
                <a16:creationId xmlns:a16="http://schemas.microsoft.com/office/drawing/2014/main" id="{A3C92CF8-F1AB-4010-8497-55712DD33311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1" t="5455" r="7963" b="10740"/>
          <a:stretch/>
        </p:blipFill>
        <p:spPr>
          <a:xfrm>
            <a:off x="850900" y="4761236"/>
            <a:ext cx="5410200" cy="442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C75520D-2FF0-B3BE-C7B1-CAAB1961D9AD}"/>
              </a:ext>
            </a:extLst>
          </p:cNvPr>
          <p:cNvGrpSpPr/>
          <p:nvPr/>
        </p:nvGrpSpPr>
        <p:grpSpPr>
          <a:xfrm>
            <a:off x="260394" y="1661288"/>
            <a:ext cx="6354924" cy="5879202"/>
            <a:chOff x="260394" y="1661288"/>
            <a:chExt cx="6354924" cy="587920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B8417B4-1D44-7394-E4E4-DEC9157F6A3F}"/>
                </a:ext>
              </a:extLst>
            </p:cNvPr>
            <p:cNvGrpSpPr/>
            <p:nvPr/>
          </p:nvGrpSpPr>
          <p:grpSpPr>
            <a:xfrm>
              <a:off x="260394" y="1661288"/>
              <a:ext cx="6354924" cy="5879202"/>
              <a:chOff x="260394" y="1661288"/>
              <a:chExt cx="6354924" cy="587920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5D4C9DF9-38A3-9109-BE35-9A6118D1B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394" y="1661288"/>
                <a:ext cx="6354924" cy="5879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565F4D1-DBDB-9A18-5610-68DBE96AFD6C}"/>
                  </a:ext>
                </a:extLst>
              </p:cNvPr>
              <p:cNvSpPr/>
              <p:nvPr/>
            </p:nvSpPr>
            <p:spPr>
              <a:xfrm>
                <a:off x="3663994" y="5975350"/>
                <a:ext cx="1003300" cy="234950"/>
              </a:xfrm>
              <a:prstGeom prst="rect">
                <a:avLst/>
              </a:prstGeom>
              <a:solidFill>
                <a:srgbClr val="AAD4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accent6">
                        <a:lumMod val="50000"/>
                      </a:schemeClr>
                    </a:solidFill>
                  </a:rPr>
                  <a:t>ISO CAN2.0B</a:t>
                </a:r>
                <a:endParaRPr lang="en-IN" sz="11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6A02428-7D43-BDEB-0B90-0550ADCFA9AE}"/>
                </a:ext>
              </a:extLst>
            </p:cNvPr>
            <p:cNvGrpSpPr/>
            <p:nvPr/>
          </p:nvGrpSpPr>
          <p:grpSpPr>
            <a:xfrm>
              <a:off x="2247729" y="6289153"/>
              <a:ext cx="1365294" cy="1179967"/>
              <a:chOff x="2247729" y="6289153"/>
              <a:chExt cx="1365294" cy="117996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8093C8-29C5-01A2-2462-AC0AFA1AD336}"/>
                  </a:ext>
                </a:extLst>
              </p:cNvPr>
              <p:cNvSpPr/>
              <p:nvPr/>
            </p:nvSpPr>
            <p:spPr>
              <a:xfrm>
                <a:off x="2247729" y="6289153"/>
                <a:ext cx="1365294" cy="117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E5D9017-C92A-47F7-1885-2AF864FC96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/>
              <a:stretch>
                <a:fillRect/>
              </a:stretch>
            </p:blipFill>
            <p:spPr>
              <a:xfrm>
                <a:off x="2549594" y="6289153"/>
                <a:ext cx="761563" cy="1122818"/>
              </a:xfrm>
              <a:prstGeom prst="rect">
                <a:avLst/>
              </a:prstGeom>
            </p:spPr>
          </p:pic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251333"/>
            <a:ext cx="6010868" cy="817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Scalable up to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16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&amp;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48-60V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battery packs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AIS-156 PH-II Compliant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Buzzer output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LED Indication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Thermal Runaway, Open Wire Fault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MOSFET Failure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Multiple communication options: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I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solated CAN2.0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BLE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Onboard: </a:t>
            </a:r>
            <a:r>
              <a:rPr lang="en-US" sz="1600" b="1" i="0" u="none" strike="noStrike" dirty="0" err="1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uSD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Card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EEPROM</a:t>
            </a: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side N-MOSFET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ell balancing current up to 120mA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719516"/>
              </p:ext>
            </p:extLst>
          </p:nvPr>
        </p:nvGraphicFramePr>
        <p:xfrm>
          <a:off x="435894" y="250483"/>
          <a:ext cx="6131250" cy="8898462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Min: 3  Max: 16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 V (16S)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 </a:t>
                      </a:r>
                      <a:r>
                        <a:rPr lang="pt-B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mm X 80 mm X 21 mm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 X B X H)</a:t>
                      </a:r>
                      <a:endParaRPr lang="pt-BR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20A continuous</a:t>
                      </a:r>
                    </a:p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effectLst/>
                        </a:rPr>
                        <a:t>30A for 30 Seconds</a:t>
                      </a:r>
                    </a:p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effectLst/>
                        </a:rPr>
                        <a:t>45A for 10 Seconds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44081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100~120 mA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BMS Self Current Consumption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Active Mode, Shutdown Mode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 Mode: ~13mA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Shutdown Mode: ~0.15mA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/>
                </a:tc>
                <a:extLst>
                  <a:ext uri="{0D108BD9-81ED-4DB2-BD59-A6C34878D82A}">
                    <a16:rowId xmlns:a16="http://schemas.microsoft.com/office/drawing/2014/main" val="1969345497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external channels for cell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EEPROM: every 90 seconds, logged over last 30 days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56221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Voltage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Voltage Protection</a:t>
                      </a: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load removal required. Charging current is allowed.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for up to 30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~50A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E6727-9C6D-2728-16FD-D8E62BB03691}"/>
              </a:ext>
            </a:extLst>
          </p:cNvPr>
          <p:cNvSpPr txBox="1"/>
          <p:nvPr/>
        </p:nvSpPr>
        <p:spPr>
          <a:xfrm>
            <a:off x="407988" y="9341490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085588"/>
              </p:ext>
            </p:extLst>
          </p:nvPr>
        </p:nvGraphicFramePr>
        <p:xfrm>
          <a:off x="364970" y="355841"/>
          <a:ext cx="6193378" cy="9022828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Latch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for up to 30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Threshold, 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Protection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～30 uSec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Latch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>
                          <a:effectLst/>
                        </a:rPr>
                      </a:br>
                      <a:br>
                        <a:rPr lang="en-IN" sz="700">
                          <a:effectLst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Discharge Protection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Discharge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Buzzer Output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Alert on Permanent Failure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Runaway, MOSFET Failure, Cell Open Wire, Short Circuit Latch, Over Current in Discharge Latch, Insulation Failure 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5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ED05D6-6E5A-5DC5-0CD8-EC3880E4C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542926"/>
              </p:ext>
            </p:extLst>
          </p:nvPr>
        </p:nvGraphicFramePr>
        <p:xfrm>
          <a:off x="466090" y="396399"/>
          <a:ext cx="5944870" cy="5567400"/>
        </p:xfrm>
        <a:graphic>
          <a:graphicData uri="http://schemas.openxmlformats.org/drawingml/2006/table">
            <a:tbl>
              <a:tblPr/>
              <a:tblGrid>
                <a:gridCol w="1250950">
                  <a:extLst>
                    <a:ext uri="{9D8B030D-6E8A-4147-A177-3AD203B41FA5}">
                      <a16:colId xmlns:a16="http://schemas.microsoft.com/office/drawing/2014/main" val="2270713232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849120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Product Naming Convention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800" b="1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WBMS-SW-Mini-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-V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endParaRPr lang="en-IN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WBMS-SW-Mini-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BBB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-HV</a:t>
                      </a:r>
                      <a:r>
                        <a:rPr lang="en-IN" sz="1400" b="1" i="0" u="none" strike="noStrike" dirty="0">
                          <a:solidFill>
                            <a:srgbClr val="FFFF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  <a:r>
                        <a:rPr lang="en-IN" sz="1400" b="1" i="0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.0</a:t>
                      </a:r>
                      <a:endParaRPr lang="en-IN" sz="1200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</a:t>
                      </a:r>
                      <a:endParaRPr lang="en-IN" sz="13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L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(WBMS-SW-Mini-LB-16S-45A-)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= 50~60mA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H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(WBMS-SW-Mini-HB-16S-45A-)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= 100~120mA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269544">
                <a:tc rowSpan="2"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BBBB</a:t>
                      </a:r>
                    </a:p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CAN Communication Hardware Option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NISO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B-16S-45A-NISO-)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Non Isolated CAN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28750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ISO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B-16S-45A-ISO-)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Isolated CAN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597572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 Option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MSDH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-MSDH)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uSD Card Holder only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477974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MSDHC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-MSDHC)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uSD Card Holder + uSD Card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4260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EPRM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-EPRM)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EEPROM</a:t>
                      </a:r>
                      <a:endParaRPr lang="en-US" sz="1200" b="0" dirty="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02698"/>
                  </a:ext>
                </a:extLst>
              </a:tr>
              <a:tr h="269544">
                <a:tc row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3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Hardware Version</a:t>
                      </a:r>
                      <a:endParaRPr lang="en-IN" sz="13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null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Initial release with multiple daughter boards</a:t>
                      </a:r>
                      <a:endParaRPr lang="en-US" sz="12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142684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 2.0</a:t>
                      </a: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</a:p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(WBMS-SW-Mini-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B-16S-45A-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BBBB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CCCC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-V2.0)</a:t>
                      </a:r>
                      <a:endParaRPr lang="en-IN" sz="11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Latest release two board architecture with onboard buzzer </a:t>
                      </a:r>
                      <a:endParaRPr lang="en-US" sz="12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107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78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02F4A-32AA-4455-A265-049E966FCDB4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Pin Diagram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C98BD-9948-9D85-67AB-A2211B2053D0}"/>
              </a:ext>
            </a:extLst>
          </p:cNvPr>
          <p:cNvPicPr>
            <a:picLocks noChangeAspect="1"/>
          </p:cNvPicPr>
          <p:nvPr/>
        </p:nvPicPr>
        <p:blipFill rotWithShape="1">
          <a:blip/>
          <a:srcRect b="755"/>
          <a:stretch/>
        </p:blipFill>
        <p:spPr>
          <a:xfrm rot="5400000">
            <a:off x="-204209" y="1594858"/>
            <a:ext cx="7315200" cy="641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6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</TotalTime>
  <Words>1004</Words>
  <Application>Microsoft Office PowerPoint</Application>
  <PresentationFormat>A4 Paper (210x297 mm)</PresentationFormat>
  <Paragraphs>223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Manuj Agrawal</cp:lastModifiedBy>
  <cp:revision>2</cp:revision>
  <cp:lastPrinted>2023-11-21T08:53:41Z</cp:lastPrinted>
  <dcterms:created xsi:type="dcterms:W3CDTF">2018-05-28T01:20:05Z</dcterms:created>
  <dcterms:modified xsi:type="dcterms:W3CDTF">2025-03-11T10:51:42Z</dcterms:modified>
</cp:coreProperties>
</file>